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33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4660"/>
  </p:normalViewPr>
  <p:slideViewPr>
    <p:cSldViewPr snapToGrid="0">
      <p:cViewPr varScale="1">
        <p:scale>
          <a:sx n="86" d="100"/>
          <a:sy n="86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6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2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5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39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18-Aug-19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18-Aug-19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65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1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08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533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18-Aug-19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7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BFC7-D6DF-473D-AB86-F2E3EE4E7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1DEC0-A3C5-4096-A31A-27F4D1CF7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C4E9F-3DB5-43D8-A8C4-89C95DE71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CB93DA-1F8C-427F-933E-50867995F30A}"/>
              </a:ext>
            </a:extLst>
          </p:cNvPr>
          <p:cNvSpPr/>
          <p:nvPr/>
        </p:nvSpPr>
        <p:spPr>
          <a:xfrm>
            <a:off x="3197440" y="527559"/>
            <a:ext cx="5797118" cy="118960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+mj-lt"/>
                <a:cs typeface="Arial" panose="020B0604020202020204" pitchFamily="34" charset="0"/>
              </a:rPr>
              <a:t>Embryology</a:t>
            </a:r>
          </a:p>
        </p:txBody>
      </p:sp>
    </p:spTree>
    <p:extLst>
      <p:ext uri="{BB962C8B-B14F-4D97-AF65-F5344CB8AC3E}">
        <p14:creationId xmlns:p14="http://schemas.microsoft.com/office/powerpoint/2010/main" val="120255869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92BD4AB-D400-460B-B889-479EA6FD6A47}"/>
              </a:ext>
            </a:extLst>
          </p:cNvPr>
          <p:cNvSpPr/>
          <p:nvPr/>
        </p:nvSpPr>
        <p:spPr>
          <a:xfrm>
            <a:off x="-1" y="339777"/>
            <a:ext cx="12192000" cy="1127463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Embryology</a:t>
            </a:r>
            <a:endParaRPr lang="en-US" sz="4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D1450-8061-4834-B97F-3EDF8B229D59}"/>
              </a:ext>
            </a:extLst>
          </p:cNvPr>
          <p:cNvSpPr txBox="1"/>
          <p:nvPr/>
        </p:nvSpPr>
        <p:spPr>
          <a:xfrm>
            <a:off x="4256840" y="2003651"/>
            <a:ext cx="4394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>
                <a:latin typeface="Century" panose="02040604050505020304" pitchFamily="18" charset="0"/>
              </a:rPr>
              <a:t>embryon</a:t>
            </a:r>
            <a:r>
              <a:rPr lang="en-US" sz="3600" i="1" dirty="0">
                <a:latin typeface="Century" panose="02040604050505020304" pitchFamily="18" charset="0"/>
              </a:rPr>
              <a:t> + logia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42830-419B-48C4-B903-A2E51789271C}"/>
              </a:ext>
            </a:extLst>
          </p:cNvPr>
          <p:cNvSpPr txBox="1"/>
          <p:nvPr/>
        </p:nvSpPr>
        <p:spPr>
          <a:xfrm>
            <a:off x="4509853" y="2712619"/>
            <a:ext cx="1944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Unborn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D241F-74E8-471D-B57A-BA462A23ED9E}"/>
              </a:ext>
            </a:extLst>
          </p:cNvPr>
          <p:cNvSpPr txBox="1"/>
          <p:nvPr/>
        </p:nvSpPr>
        <p:spPr>
          <a:xfrm>
            <a:off x="6711516" y="2772486"/>
            <a:ext cx="1278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342DE8-8793-4591-80F4-A7796EACCB3E}"/>
              </a:ext>
            </a:extLst>
          </p:cNvPr>
          <p:cNvSpPr/>
          <p:nvPr/>
        </p:nvSpPr>
        <p:spPr>
          <a:xfrm>
            <a:off x="3278447" y="3548234"/>
            <a:ext cx="5635105" cy="102872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The study of Unborn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0374E1-584D-4D49-ACF5-5952830E22C5}"/>
              </a:ext>
            </a:extLst>
          </p:cNvPr>
          <p:cNvSpPr txBox="1"/>
          <p:nvPr/>
        </p:nvSpPr>
        <p:spPr>
          <a:xfrm>
            <a:off x="0" y="4891047"/>
            <a:ext cx="119404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Embryology is the branch of biology and medicine concerned with the study of embryos and their development.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924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8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A20E2B3-825F-42A4-90AA-7E84CA70A9E6}"/>
              </a:ext>
            </a:extLst>
          </p:cNvPr>
          <p:cNvSpPr/>
          <p:nvPr/>
        </p:nvSpPr>
        <p:spPr>
          <a:xfrm>
            <a:off x="0" y="456154"/>
            <a:ext cx="12192000" cy="77345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Fertilization and the zygote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DA939-A717-4A05-BEA6-A9F2AA25F515}"/>
              </a:ext>
            </a:extLst>
          </p:cNvPr>
          <p:cNvSpPr txBox="1"/>
          <p:nvPr/>
        </p:nvSpPr>
        <p:spPr>
          <a:xfrm>
            <a:off x="3266983" y="229043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9B743927-0044-4D41-95C9-2F68F9550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983" y="1520950"/>
            <a:ext cx="5108392" cy="2015609"/>
          </a:xfr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7EB786-01D3-4AE9-A951-C10DE368784B}"/>
              </a:ext>
            </a:extLst>
          </p:cNvPr>
          <p:cNvSpPr txBox="1"/>
          <p:nvPr/>
        </p:nvSpPr>
        <p:spPr>
          <a:xfrm flipH="1">
            <a:off x="350138" y="3827901"/>
            <a:ext cx="1163471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Fertilization</a:t>
            </a:r>
            <a:r>
              <a:rPr lang="en-US" sz="3600" dirty="0"/>
              <a:t> is the fusion of gametes to produce a new organism. In animals, the process involves a sperm fusing with an ovum, which eventually leads to the development of an embryo. The fertilized egg cell is known as the </a:t>
            </a:r>
            <a:r>
              <a:rPr lang="en-US" sz="3600" dirty="0">
                <a:solidFill>
                  <a:srgbClr val="FF0000"/>
                </a:solidFill>
              </a:rPr>
              <a:t>zygote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214638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C250CB-0F14-4D0E-8664-908312816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894" y="1170987"/>
            <a:ext cx="4011021" cy="30902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AF7731B-A9D6-4180-8836-C5D07D6DC7EA}"/>
              </a:ext>
            </a:extLst>
          </p:cNvPr>
          <p:cNvSpPr/>
          <p:nvPr/>
        </p:nvSpPr>
        <p:spPr>
          <a:xfrm>
            <a:off x="0" y="456154"/>
            <a:ext cx="12192000" cy="77345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Cleavage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CA9E5-6164-43BC-A806-9986AB1328E0}"/>
              </a:ext>
            </a:extLst>
          </p:cNvPr>
          <p:cNvSpPr txBox="1"/>
          <p:nvPr/>
        </p:nvSpPr>
        <p:spPr>
          <a:xfrm>
            <a:off x="502436" y="4324341"/>
            <a:ext cx="11136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Cleavage</a:t>
            </a:r>
            <a:r>
              <a:rPr lang="en-US" sz="3600" dirty="0"/>
              <a:t> is the division of cells in the early embryo. This process is marked when the zygote divides through mitosis</a:t>
            </a:r>
          </a:p>
          <a:p>
            <a:r>
              <a:rPr lang="en-US" sz="3600" dirty="0"/>
              <a:t>into two cells. This mitosis continues and the first two cells divide into four cells, then into eight cells and so on. </a:t>
            </a:r>
          </a:p>
        </p:txBody>
      </p:sp>
    </p:spTree>
    <p:extLst>
      <p:ext uri="{BB962C8B-B14F-4D97-AF65-F5344CB8AC3E}">
        <p14:creationId xmlns:p14="http://schemas.microsoft.com/office/powerpoint/2010/main" val="6072902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16B2635-9B68-4A4A-990F-40F92A6834A3}"/>
              </a:ext>
            </a:extLst>
          </p:cNvPr>
          <p:cNvSpPr/>
          <p:nvPr/>
        </p:nvSpPr>
        <p:spPr>
          <a:xfrm>
            <a:off x="0" y="456154"/>
            <a:ext cx="12192000" cy="77345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Morula and Blastula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5A16F-B0D1-4CDB-A932-58A8172132B2}"/>
              </a:ext>
            </a:extLst>
          </p:cNvPr>
          <p:cNvSpPr txBox="1"/>
          <p:nvPr/>
        </p:nvSpPr>
        <p:spPr>
          <a:xfrm>
            <a:off x="0" y="3757474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When the cells number around </a:t>
            </a:r>
            <a:r>
              <a:rPr lang="en-US" sz="3600" dirty="0">
                <a:solidFill>
                  <a:srgbClr val="FF0000"/>
                </a:solidFill>
              </a:rPr>
              <a:t>sixteen</a:t>
            </a:r>
            <a:r>
              <a:rPr lang="en-US" sz="3600" dirty="0"/>
              <a:t> the solid sphere of cells within the </a:t>
            </a:r>
            <a:r>
              <a:rPr lang="en-US" sz="3600" dirty="0">
                <a:solidFill>
                  <a:srgbClr val="FF0000"/>
                </a:solidFill>
              </a:rPr>
              <a:t>zona pellucida</a:t>
            </a:r>
            <a:r>
              <a:rPr lang="en-US" sz="3600" dirty="0"/>
              <a:t> is referred to as a </a:t>
            </a:r>
            <a:r>
              <a:rPr lang="en-US" sz="3600">
                <a:solidFill>
                  <a:srgbClr val="FF0000"/>
                </a:solidFill>
              </a:rPr>
              <a:t>morula</a:t>
            </a:r>
            <a:r>
              <a:rPr lang="en-US" sz="3600"/>
              <a:t>.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Blastula is a </a:t>
            </a:r>
            <a:r>
              <a:rPr lang="en-US" sz="3600" dirty="0">
                <a:solidFill>
                  <a:srgbClr val="FF0000"/>
                </a:solidFill>
              </a:rPr>
              <a:t>hollow ball</a:t>
            </a:r>
            <a:r>
              <a:rPr lang="en-US" sz="3600" dirty="0"/>
              <a:t> of cells of in the early stages of development in an animal embryo. Blastula is formed from the morula in the process called </a:t>
            </a:r>
            <a:r>
              <a:rPr lang="en-US" sz="3600" dirty="0" err="1">
                <a:solidFill>
                  <a:srgbClr val="FF0000"/>
                </a:solidFill>
              </a:rPr>
              <a:t>blastulation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FC632-3415-49DF-A4CE-0007A72A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572" y="1229608"/>
            <a:ext cx="5841507" cy="234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301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1BDF4D2-8E78-4CAB-A5E0-033BFF21D7A7}"/>
              </a:ext>
            </a:extLst>
          </p:cNvPr>
          <p:cNvSpPr/>
          <p:nvPr/>
        </p:nvSpPr>
        <p:spPr>
          <a:xfrm>
            <a:off x="0" y="465032"/>
            <a:ext cx="12192000" cy="77345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Gastrula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F84DF-2B30-486C-A4E2-3F980C2CCEA7}"/>
              </a:ext>
            </a:extLst>
          </p:cNvPr>
          <p:cNvSpPr txBox="1"/>
          <p:nvPr/>
        </p:nvSpPr>
        <p:spPr>
          <a:xfrm>
            <a:off x="-1" y="3667463"/>
            <a:ext cx="1219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400" dirty="0"/>
              <a:t>Gastrula is a stage of early embryo with </a:t>
            </a:r>
            <a:r>
              <a:rPr lang="en-US" sz="3400" dirty="0">
                <a:solidFill>
                  <a:srgbClr val="FF0000"/>
                </a:solidFill>
              </a:rPr>
              <a:t>two or three germ layers </a:t>
            </a:r>
            <a:r>
              <a:rPr lang="en-US" sz="3400" dirty="0"/>
              <a:t>from which various organs are derived. Gastrula develops from the blastula in a process called </a:t>
            </a:r>
            <a:r>
              <a:rPr lang="en-US" sz="3400" dirty="0">
                <a:solidFill>
                  <a:srgbClr val="FF0000"/>
                </a:solidFill>
              </a:rPr>
              <a:t>gastrulation</a:t>
            </a:r>
            <a:r>
              <a:rPr lang="en-US" sz="3400" dirty="0"/>
              <a:t>.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79ADB-F701-4491-8284-160810D76097}"/>
              </a:ext>
            </a:extLst>
          </p:cNvPr>
          <p:cNvSpPr txBox="1"/>
          <p:nvPr/>
        </p:nvSpPr>
        <p:spPr>
          <a:xfrm>
            <a:off x="0" y="5183326"/>
            <a:ext cx="1156760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400" dirty="0"/>
              <a:t>In </a:t>
            </a:r>
            <a:r>
              <a:rPr lang="en-US" sz="3400" dirty="0">
                <a:solidFill>
                  <a:srgbClr val="FF0000"/>
                </a:solidFill>
              </a:rPr>
              <a:t>triploblastic</a:t>
            </a:r>
            <a:r>
              <a:rPr lang="en-US" sz="3400" dirty="0"/>
              <a:t> organisms the gastrula is three-layered. These three germ layers are known as the </a:t>
            </a:r>
            <a:r>
              <a:rPr lang="en-US" sz="3400" i="1" dirty="0">
                <a:solidFill>
                  <a:srgbClr val="FF0000"/>
                </a:solidFill>
              </a:rPr>
              <a:t>ectoderm, mesoderm, </a:t>
            </a:r>
            <a:r>
              <a:rPr lang="en-US" sz="3400" dirty="0"/>
              <a:t>and </a:t>
            </a:r>
            <a:r>
              <a:rPr lang="en-US" sz="3400" i="1" dirty="0">
                <a:solidFill>
                  <a:srgbClr val="FF0000"/>
                </a:solidFill>
              </a:rPr>
              <a:t>endoderm</a:t>
            </a:r>
            <a:r>
              <a:rPr lang="en-US" sz="3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ACF326-5DDE-46B7-BAEF-75AAF38A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817" y="1238487"/>
            <a:ext cx="6584365" cy="242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8017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155F6D7-19B9-4713-AEA9-DF8D17D8FB56}">
  <we:reference id="wa104178141" version="4.0.0.8" store="en-US" storeType="OMEX"/>
  <we:alternateReferences>
    <we:reference id="wa104178141" version="4.0.0.8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98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Century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Mehedi Hasan</dc:creator>
  <cp:lastModifiedBy>Mehedi Hasan</cp:lastModifiedBy>
  <cp:revision>21</cp:revision>
  <dcterms:created xsi:type="dcterms:W3CDTF">2019-08-18T16:38:20Z</dcterms:created>
  <dcterms:modified xsi:type="dcterms:W3CDTF">2019-08-18T20:18:24Z</dcterms:modified>
</cp:coreProperties>
</file>